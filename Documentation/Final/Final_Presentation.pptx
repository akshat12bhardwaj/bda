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latin typeface="Calibri"/>
              </a:rPr>
              <a:t>Onion, 1 week ahead — one-time test (% MAE improvement; &lt; 0 = worse)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Onion h=1: MAE improvement vs persistence (%)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99A1E"/>
              </a:solidFill>
            </c:spPr>
          </c:dPt>
          <c:dPt>
            <c:idx val="1"/>
            <c:invertIfNegative val="0"/>
            <c:spPr>
              <a:solidFill>
                <a:srgbClr val="97BC62"/>
              </a:solidFill>
            </c:spPr>
          </c:dPt>
          <c:dPt>
            <c:idx val="2"/>
            <c:invertIfNegative val="0"/>
            <c:spPr>
              <a:solidFill>
                <a:srgbClr val="D99A1E"/>
              </a:solidFill>
            </c:spPr>
          </c:dPt>
          <c:cat>
            <c:strRef>
              <c:f>Sheet1!$A$2:$A$4</c:f>
              <c:strCache>
                <c:ptCount val="3"/>
                <c:pt idx="0">
                  <c:v>Test 2021</c:v>
                </c:pt>
                <c:pt idx="1">
                  <c:v>Test 2022</c:v>
                </c:pt>
                <c:pt idx="2">
                  <c:v>Test combined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-5.16</c:v>
                </c:pt>
                <c:pt idx="1">
                  <c:v>3.31</c:v>
                </c:pt>
                <c:pt idx="2">
                  <c:v>-1.58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C8BA"/>
            </a:solidFill>
          </a:ln>
        </c:spPr>
        <c:txPr>
          <a:bodyPr/>
          <a:lstStyle/>
          <a:p>
            <a:pPr>
              <a:defRPr sz="1200">
                <a:solidFill>
                  <a:srgbClr val="5A6B5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3D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A6B5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latin typeface="Calibri"/>
              </a:rPr>
              <a:t>% lower log MAE vs persistence, mean of test 2021 and 2022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 week ahead</c:v>
                </c:pt>
              </c:strCache>
            </c:strRef>
          </c:tx>
          <c:spPr>
            <a:solidFill>
              <a:srgbClr val="97BC62"/>
            </a:solidFill>
          </c:spPr>
          <c:cat>
            <c:strRef>
              <c:f>Sheet1!$A$2:$A$4</c:f>
              <c:strCache>
                <c:ptCount val="3"/>
                <c:pt idx="0">
                  <c:v>Onion</c:v>
                </c:pt>
                <c:pt idx="1">
                  <c:v>Potato</c:v>
                </c:pt>
                <c:pt idx="2">
                  <c:v>Wheat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</c:v>
                </c:pt>
                <c:pt idx="1">
                  <c:v>3.7</c:v>
                </c:pt>
                <c:pt idx="2">
                  <c:v>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weeks ahead</c:v>
                </c:pt>
              </c:strCache>
            </c:strRef>
          </c:tx>
          <c:spPr>
            <a:solidFill>
              <a:srgbClr val="1F4D2B"/>
            </a:solidFill>
          </c:spPr>
          <c:cat>
            <c:strRef>
              <c:f>Sheet1!$A$2:$A$4</c:f>
              <c:strCache>
                <c:ptCount val="3"/>
                <c:pt idx="0">
                  <c:v>Onion</c:v>
                </c:pt>
                <c:pt idx="1">
                  <c:v>Potato</c:v>
                </c:pt>
                <c:pt idx="2">
                  <c:v>Wheat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4.8</c:v>
                </c:pt>
                <c:pt idx="1">
                  <c:v>3.6</c:v>
                </c:pt>
                <c:pt idx="2">
                  <c:v>8.5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weeks ahead</c:v>
                </c:pt>
              </c:strCache>
            </c:strRef>
          </c:tx>
          <c:spPr>
            <a:solidFill>
              <a:srgbClr val="D99A1E"/>
            </a:solidFill>
          </c:spPr>
          <c:cat>
            <c:strRef>
              <c:f>Sheet1!$A$2:$A$4</c:f>
              <c:strCache>
                <c:ptCount val="3"/>
                <c:pt idx="0">
                  <c:v>Onion</c:v>
                </c:pt>
                <c:pt idx="1">
                  <c:v>Potato</c:v>
                </c:pt>
                <c:pt idx="2">
                  <c:v>Wheat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4.3</c:v>
                </c:pt>
                <c:pt idx="1">
                  <c:v>3.4</c:v>
                </c:pt>
                <c:pt idx="2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BA"/>
            </a:solidFill>
          </a:ln>
        </c:spPr>
        <c:txPr>
          <a:bodyPr/>
          <a:lstStyle/>
          <a:p>
            <a:pPr>
              <a:defRPr sz="1200">
                <a:solidFill>
                  <a:srgbClr val="5A6B5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3D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A6B5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one-sentence goal: evidence for where and when to trade three staple crops.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source and its format. The mandi files are the big-data part; APY gives district production; the weather API gives climate covariates.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Each step is a tested module with a decision log; selections are frozen by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Spark reads all raw rows with an explicit schema. Spark SQL district-year totals equal the Phase 4 pandas output on every district-year — zero mismatches. Runtime is one machine, not a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Q1 query. Then the RDD map/reduceByKey job, which equals the SQL GROUP BY. Be explicit: this is a Spark pattern in local mode, not Hadoop MapReduce.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Persistence was selected for eight of nine cells on validation. The one learned model, Onion one week ahead, passed validation but was worse than persistence over the combined test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Conservative gradient boosting, selected on validation, beat persistence in every crop × horizon × test year. Gains are modest and largest for Wheat. Arrivals are a supply-side activity measure, not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District APY values two years back, as published. Four comparability classes are never merged. Quality rules only flag. The two-year lag is a policy assumption. R13 rows await a provider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here. Six tabs; the data layer enforces the boundaries: validation and test only, no holdout, production values only through 2018-19, no file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run-once guards and hash freezes: test periods were scored exactly once, and nothing in the dashboard or Spark job can rerun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honest limits and the concrete next steps, then hand over to Q&amp;A and the contribution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 title"/>
          <p:cNvSpPr txBox="1"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mbria"/>
              </a:rPr>
              <a:t>Agricultural Market Decision Support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8F0DF"/>
                </a:solidFill>
                <a:latin typeface="Calibri"/>
              </a:rPr>
              <a:t>Onion · Potato · Wheat — prices, arrivals and production from Indian open government data</a:t>
            </a:r>
          </a:p>
        </p:txBody>
      </p:sp>
      <p:sp>
        <p:nvSpPr>
          <p:cNvPr id="4" name="course line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7BC62"/>
                </a:solidFill>
                <a:latin typeface="Calibri"/>
              </a:rPr>
              <a:t>CSE 3712 Big Data Analytics · Project end-term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7BC62"/>
                </a:solidFill>
                <a:latin typeface="Calibri"/>
              </a:rPr>
              <a:t>[Team members · roll numbers]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D2B"/>
                </a:solidFill>
                <a:latin typeface="Cambria"/>
              </a:rPr>
              <a:t>Three public sources, one decision question</a:t>
            </a:r>
          </a:p>
        </p:txBody>
      </p:sp>
      <p:sp>
        <p:nvSpPr>
          <p:cNvPr id="3" name="source 0"/>
          <p:cNvSpPr/>
          <p:nvPr/>
        </p:nvSpPr>
        <p:spPr>
          <a:xfrm>
            <a:off x="548640" y="15544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dge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source head"/>
          <p:cNvSpPr txBox="1"/>
          <p:nvPr/>
        </p:nvSpPr>
        <p:spPr>
          <a:xfrm>
            <a:off x="1417319" y="1783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1B1B"/>
                </a:solidFill>
                <a:latin typeface="Calibri"/>
              </a:rPr>
              <a:t>Mandi prices &amp; arrivals</a:t>
            </a:r>
          </a:p>
        </p:txBody>
      </p:sp>
      <p:sp>
        <p:nvSpPr>
          <p:cNvPr id="6" name="source stat"/>
          <p:cNvSpPr txBox="1"/>
          <p:nvPr/>
        </p:nvSpPr>
        <p:spPr>
          <a:xfrm>
            <a:off x="77724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4.5 GB</a:t>
            </a:r>
          </a:p>
        </p:txBody>
      </p:sp>
      <p:sp>
        <p:nvSpPr>
          <p:cNvPr id="7" name="source sub"/>
          <p:cNvSpPr txBox="1"/>
          <p:nvPr/>
        </p:nvSpPr>
        <p:spPr>
          <a:xfrm>
            <a:off x="777240" y="34747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325 CSV files · 7.98M rows for 3 crops</a:t>
            </a:r>
          </a:p>
        </p:txBody>
      </p:sp>
      <p:sp>
        <p:nvSpPr>
          <p:cNvPr id="8" name="source 1"/>
          <p:cNvSpPr/>
          <p:nvPr/>
        </p:nvSpPr>
        <p:spPr>
          <a:xfrm>
            <a:off x="4297679" y="15544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dge"/>
          <p:cNvSpPr/>
          <p:nvPr/>
        </p:nvSpPr>
        <p:spPr>
          <a:xfrm>
            <a:off x="4526279" y="1783080"/>
            <a:ext cx="566928" cy="566928"/>
          </a:xfrm>
          <a:prstGeom prst="ellipse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source head"/>
          <p:cNvSpPr txBox="1"/>
          <p:nvPr/>
        </p:nvSpPr>
        <p:spPr>
          <a:xfrm>
            <a:off x="5166359" y="1783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1B1B"/>
                </a:solidFill>
                <a:latin typeface="Calibri"/>
              </a:rPr>
              <a:t>APY district production</a:t>
            </a:r>
          </a:p>
        </p:txBody>
      </p:sp>
      <p:sp>
        <p:nvSpPr>
          <p:cNvPr id="11" name="source stat"/>
          <p:cNvSpPr txBox="1"/>
          <p:nvPr/>
        </p:nvSpPr>
        <p:spPr>
          <a:xfrm>
            <a:off x="4526279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455k rows</a:t>
            </a:r>
          </a:p>
        </p:txBody>
      </p:sp>
      <p:sp>
        <p:nvSpPr>
          <p:cNvPr id="12" name="source sub"/>
          <p:cNvSpPr txBox="1"/>
          <p:nvPr/>
        </p:nvSpPr>
        <p:spPr>
          <a:xfrm>
            <a:off x="4526279" y="34747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CSV + Excel codebook · DES, Govt. of India</a:t>
            </a:r>
          </a:p>
        </p:txBody>
      </p:sp>
      <p:sp>
        <p:nvSpPr>
          <p:cNvPr id="13" name="source 2"/>
          <p:cNvSpPr/>
          <p:nvPr/>
        </p:nvSpPr>
        <p:spPr>
          <a:xfrm>
            <a:off x="8046719" y="15544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dge"/>
          <p:cNvSpPr/>
          <p:nvPr/>
        </p:nvSpPr>
        <p:spPr>
          <a:xfrm>
            <a:off x="8275319" y="1783080"/>
            <a:ext cx="566928" cy="566928"/>
          </a:xfrm>
          <a:prstGeom prst="ellipse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source head"/>
          <p:cNvSpPr txBox="1"/>
          <p:nvPr/>
        </p:nvSpPr>
        <p:spPr>
          <a:xfrm>
            <a:off x="8915399" y="1783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1B1B"/>
                </a:solidFill>
                <a:latin typeface="Calibri"/>
              </a:rPr>
              <a:t>Open-Meteo weather</a:t>
            </a:r>
          </a:p>
        </p:txBody>
      </p:sp>
      <p:sp>
        <p:nvSpPr>
          <p:cNvPr id="16" name="source stat"/>
          <p:cNvSpPr txBox="1"/>
          <p:nvPr/>
        </p:nvSpPr>
        <p:spPr>
          <a:xfrm>
            <a:off x="8275319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46 sites</a:t>
            </a:r>
          </a:p>
        </p:txBody>
      </p:sp>
      <p:sp>
        <p:nvSpPr>
          <p:cNvPr id="17" name="source sub"/>
          <p:cNvSpPr txBox="1"/>
          <p:nvPr/>
        </p:nvSpPr>
        <p:spPr>
          <a:xfrm>
            <a:off x="8275319" y="34747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REST API (JSON) · 2001–2022, verified geocoding</a:t>
            </a:r>
          </a:p>
        </p:txBody>
      </p:sp>
      <p:sp>
        <p:nvSpPr>
          <p:cNvPr id="18" name="question"/>
          <p:cNvSpPr txBox="1"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D2B"/>
                </a:solidFill>
                <a:latin typeface="Calibri"/>
              </a:rPr>
              <a:t>Question: 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Where and when should a trader buy and sell? We build honest, leakage-safe evidence for that decision, without claiming an optimiser we have not built.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D2B"/>
                </a:solidFill>
                <a:latin typeface="Cambria"/>
              </a:rPr>
              <a:t>A tested pipeline from raw files to decisions</a:t>
            </a:r>
          </a:p>
        </p:txBody>
      </p:sp>
      <p:sp>
        <p:nvSpPr>
          <p:cNvPr id="3" name="step Integrate"/>
          <p:cNvSpPr/>
          <p:nvPr/>
        </p:nvSpPr>
        <p:spPr>
          <a:xfrm>
            <a:off x="548640" y="1828800"/>
            <a:ext cx="1691640" cy="20116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dge"/>
          <p:cNvSpPr/>
          <p:nvPr/>
        </p:nvSpPr>
        <p:spPr>
          <a:xfrm>
            <a:off x="1115568" y="2011680"/>
            <a:ext cx="566928" cy="566928"/>
          </a:xfrm>
          <a:prstGeom prst="ellipse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step head"/>
          <p:cNvSpPr txBox="1"/>
          <p:nvPr/>
        </p:nvSpPr>
        <p:spPr>
          <a:xfrm>
            <a:off x="640080" y="2651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Integrate</a:t>
            </a:r>
          </a:p>
        </p:txBody>
      </p:sp>
      <p:sp>
        <p:nvSpPr>
          <p:cNvPr id="6" name="step sub"/>
          <p:cNvSpPr txBox="1"/>
          <p:nvPr/>
        </p:nvSpPr>
        <p:spPr>
          <a:xfrm>
            <a:off x="640080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B5D"/>
                </a:solidFill>
                <a:latin typeface="Calibri"/>
              </a:rPr>
              <a:t>reviewed crosswalk, July–June year</a:t>
            </a:r>
          </a:p>
        </p:txBody>
      </p:sp>
      <p:sp>
        <p:nvSpPr>
          <p:cNvPr id="7" name="step Clean"/>
          <p:cNvSpPr/>
          <p:nvPr/>
        </p:nvSpPr>
        <p:spPr>
          <a:xfrm>
            <a:off x="2441448" y="1828800"/>
            <a:ext cx="1691640" cy="2011680"/>
          </a:xfrm>
          <a:prstGeom prst="roundRect">
            <a:avLst>
              <a:gd name="adj" fmla="val 8000"/>
            </a:avLst>
          </a:prstGeom>
          <a:solidFill>
            <a:srgbClr val="E8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dge"/>
          <p:cNvSpPr/>
          <p:nvPr/>
        </p:nvSpPr>
        <p:spPr>
          <a:xfrm>
            <a:off x="3008376" y="2011680"/>
            <a:ext cx="566928" cy="566928"/>
          </a:xfrm>
          <a:prstGeom prst="ellipse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" name="step head"/>
          <p:cNvSpPr txBox="1"/>
          <p:nvPr/>
        </p:nvSpPr>
        <p:spPr>
          <a:xfrm>
            <a:off x="2532888" y="2651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Clean</a:t>
            </a:r>
          </a:p>
        </p:txBody>
      </p:sp>
      <p:sp>
        <p:nvSpPr>
          <p:cNvPr id="10" name="step sub"/>
          <p:cNvSpPr txBox="1"/>
          <p:nvPr/>
        </p:nvSpPr>
        <p:spPr>
          <a:xfrm>
            <a:off x="2532888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B5D"/>
                </a:solidFill>
                <a:latin typeface="Calibri"/>
              </a:rPr>
              <a:t>flag, never delete</a:t>
            </a:r>
          </a:p>
        </p:txBody>
      </p:sp>
      <p:sp>
        <p:nvSpPr>
          <p:cNvPr id="11" name="step Features"/>
          <p:cNvSpPr/>
          <p:nvPr/>
        </p:nvSpPr>
        <p:spPr>
          <a:xfrm>
            <a:off x="4334255" y="1828800"/>
            <a:ext cx="1691640" cy="20116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dge"/>
          <p:cNvSpPr/>
          <p:nvPr/>
        </p:nvSpPr>
        <p:spPr>
          <a:xfrm>
            <a:off x="4901183" y="2011680"/>
            <a:ext cx="566928" cy="566928"/>
          </a:xfrm>
          <a:prstGeom prst="ellipse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3" name="step head"/>
          <p:cNvSpPr txBox="1"/>
          <p:nvPr/>
        </p:nvSpPr>
        <p:spPr>
          <a:xfrm>
            <a:off x="4425695" y="2651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Features</a:t>
            </a:r>
          </a:p>
        </p:txBody>
      </p:sp>
      <p:sp>
        <p:nvSpPr>
          <p:cNvPr id="14" name="step sub"/>
          <p:cNvSpPr txBox="1"/>
          <p:nvPr/>
        </p:nvSpPr>
        <p:spPr>
          <a:xfrm>
            <a:off x="4425695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B5D"/>
                </a:solidFill>
                <a:latin typeface="Calibri"/>
              </a:rPr>
              <a:t>leakage-safe, t−1 cutoff</a:t>
            </a:r>
          </a:p>
        </p:txBody>
      </p:sp>
      <p:sp>
        <p:nvSpPr>
          <p:cNvPr id="15" name="step EDA"/>
          <p:cNvSpPr/>
          <p:nvPr/>
        </p:nvSpPr>
        <p:spPr>
          <a:xfrm>
            <a:off x="6227063" y="1828800"/>
            <a:ext cx="1691640" cy="2011680"/>
          </a:xfrm>
          <a:prstGeom prst="roundRect">
            <a:avLst>
              <a:gd name="adj" fmla="val 8000"/>
            </a:avLst>
          </a:prstGeom>
          <a:solidFill>
            <a:srgbClr val="E8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dge"/>
          <p:cNvSpPr/>
          <p:nvPr/>
        </p:nvSpPr>
        <p:spPr>
          <a:xfrm>
            <a:off x="6793991" y="2011680"/>
            <a:ext cx="566928" cy="566928"/>
          </a:xfrm>
          <a:prstGeom prst="ellipse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step head"/>
          <p:cNvSpPr txBox="1"/>
          <p:nvPr/>
        </p:nvSpPr>
        <p:spPr>
          <a:xfrm>
            <a:off x="6318503" y="2651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EDA</a:t>
            </a:r>
          </a:p>
        </p:txBody>
      </p:sp>
      <p:sp>
        <p:nvSpPr>
          <p:cNvPr id="18" name="step sub"/>
          <p:cNvSpPr txBox="1"/>
          <p:nvPr/>
        </p:nvSpPr>
        <p:spPr>
          <a:xfrm>
            <a:off x="6318503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B5D"/>
                </a:solidFill>
                <a:latin typeface="Calibri"/>
              </a:rPr>
              <a:t>seasonality, persistence</a:t>
            </a:r>
          </a:p>
        </p:txBody>
      </p:sp>
      <p:sp>
        <p:nvSpPr>
          <p:cNvPr id="19" name="step Forecast"/>
          <p:cNvSpPr/>
          <p:nvPr/>
        </p:nvSpPr>
        <p:spPr>
          <a:xfrm>
            <a:off x="8119871" y="1828800"/>
            <a:ext cx="1691640" cy="20116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dge"/>
          <p:cNvSpPr/>
          <p:nvPr/>
        </p:nvSpPr>
        <p:spPr>
          <a:xfrm>
            <a:off x="8686799" y="2011680"/>
            <a:ext cx="566928" cy="566928"/>
          </a:xfrm>
          <a:prstGeom prst="ellipse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8–9</a:t>
            </a:r>
          </a:p>
        </p:txBody>
      </p:sp>
      <p:sp>
        <p:nvSpPr>
          <p:cNvPr id="21" name="step head"/>
          <p:cNvSpPr txBox="1"/>
          <p:nvPr/>
        </p:nvSpPr>
        <p:spPr>
          <a:xfrm>
            <a:off x="8211311" y="2651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Forecast</a:t>
            </a:r>
          </a:p>
        </p:txBody>
      </p:sp>
      <p:sp>
        <p:nvSpPr>
          <p:cNvPr id="22" name="step sub"/>
          <p:cNvSpPr txBox="1"/>
          <p:nvPr/>
        </p:nvSpPr>
        <p:spPr>
          <a:xfrm>
            <a:off x="8211311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B5D"/>
                </a:solidFill>
                <a:latin typeface="Calibri"/>
              </a:rPr>
              <a:t>prices &amp; arrivals vs persistence</a:t>
            </a:r>
          </a:p>
        </p:txBody>
      </p:sp>
      <p:sp>
        <p:nvSpPr>
          <p:cNvPr id="23" name="step Context"/>
          <p:cNvSpPr/>
          <p:nvPr/>
        </p:nvSpPr>
        <p:spPr>
          <a:xfrm>
            <a:off x="10012680" y="1828800"/>
            <a:ext cx="1691640" cy="2011680"/>
          </a:xfrm>
          <a:prstGeom prst="roundRect">
            <a:avLst>
              <a:gd name="adj" fmla="val 8000"/>
            </a:avLst>
          </a:prstGeom>
          <a:solidFill>
            <a:srgbClr val="E8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dge"/>
          <p:cNvSpPr/>
          <p:nvPr/>
        </p:nvSpPr>
        <p:spPr>
          <a:xfrm>
            <a:off x="10579607" y="2011680"/>
            <a:ext cx="566928" cy="566928"/>
          </a:xfrm>
          <a:prstGeom prst="ellipse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5" name="step head"/>
          <p:cNvSpPr txBox="1"/>
          <p:nvPr/>
        </p:nvSpPr>
        <p:spPr>
          <a:xfrm>
            <a:off x="10104119" y="2651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Context</a:t>
            </a:r>
          </a:p>
        </p:txBody>
      </p:sp>
      <p:sp>
        <p:nvSpPr>
          <p:cNvPr id="26" name="step sub"/>
          <p:cNvSpPr txBox="1"/>
          <p:nvPr/>
        </p:nvSpPr>
        <p:spPr>
          <a:xfrm>
            <a:off x="10104119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B5D"/>
                </a:solidFill>
                <a:latin typeface="Calibri"/>
              </a:rPr>
              <a:t>district production + PQ-1 flags</a:t>
            </a:r>
          </a:p>
        </p:txBody>
      </p:sp>
      <p:sp>
        <p:nvSpPr>
          <p:cNvPr id="27" name="protocol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tocol text"/>
          <p:cNvSpPr txBox="1"/>
          <p:nvPr/>
        </p:nvSpPr>
        <p:spPr>
          <a:xfrm>
            <a:off x="822960" y="443484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D2B"/>
                </a:solidFill>
                <a:latin typeface="Calibri"/>
              </a:rPr>
              <a:t>Evaluation protocol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Chronological: train 2002–2018 · validate 2019–2020 · one-time test 2021–2022 · 2023+ holdout still unscored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Every model is compared with persistence; bootstrap intervals; selections frozen by hash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D2B"/>
                </a:solidFill>
                <a:latin typeface="Cambria"/>
              </a:rPr>
              <a:t>PySpark ETL reproduces the pandas pipeline exactly</a:t>
            </a:r>
          </a:p>
        </p:txBody>
      </p:sp>
      <p:sp>
        <p:nvSpPr>
          <p:cNvPr id="3" name="stat raw rows read (explicit schema)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 value"/>
          <p:cNvSpPr txBox="1"/>
          <p:nvPr/>
        </p:nvSpPr>
        <p:spPr>
          <a:xfrm>
            <a:off x="731520" y="16916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7.98M</a:t>
            </a:r>
          </a:p>
        </p:txBody>
      </p:sp>
      <p:sp>
        <p:nvSpPr>
          <p:cNvPr id="5" name="stat label"/>
          <p:cNvSpPr txBox="1"/>
          <p:nvPr/>
        </p:nvSpPr>
        <p:spPr>
          <a:xfrm>
            <a:off x="731520" y="24688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raw rows read (explicit schema)</a:t>
            </a:r>
          </a:p>
        </p:txBody>
      </p:sp>
      <p:sp>
        <p:nvSpPr>
          <p:cNvPr id="6" name="stat district-years compared"/>
          <p:cNvSpPr/>
          <p:nvPr/>
        </p:nvSpPr>
        <p:spPr>
          <a:xfrm>
            <a:off x="3337560" y="1554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 value"/>
          <p:cNvSpPr txBox="1"/>
          <p:nvPr/>
        </p:nvSpPr>
        <p:spPr>
          <a:xfrm>
            <a:off x="3520440" y="16916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16,673</a:t>
            </a:r>
          </a:p>
        </p:txBody>
      </p:sp>
      <p:sp>
        <p:nvSpPr>
          <p:cNvPr id="8" name="stat label"/>
          <p:cNvSpPr txBox="1"/>
          <p:nvPr/>
        </p:nvSpPr>
        <p:spPr>
          <a:xfrm>
            <a:off x="3520440" y="24688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district-years compared</a:t>
            </a:r>
          </a:p>
        </p:txBody>
      </p:sp>
      <p:sp>
        <p:nvSpPr>
          <p:cNvPr id="9" name="stat parity mismatches vs pandas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 value"/>
          <p:cNvSpPr txBox="1"/>
          <p:nvPr/>
        </p:nvSpPr>
        <p:spPr>
          <a:xfrm>
            <a:off x="6309360" y="16916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0</a:t>
            </a:r>
          </a:p>
        </p:txBody>
      </p:sp>
      <p:sp>
        <p:nvSpPr>
          <p:cNvPr id="11" name="stat label"/>
          <p:cNvSpPr txBox="1"/>
          <p:nvPr/>
        </p:nvSpPr>
        <p:spPr>
          <a:xfrm>
            <a:off x="6309360" y="24688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parity mismatches vs pandas</a:t>
            </a:r>
          </a:p>
        </p:txBody>
      </p:sp>
      <p:sp>
        <p:nvSpPr>
          <p:cNvPr id="12" name="stat end-to-end, local[8], one machine"/>
          <p:cNvSpPr/>
          <p:nvPr/>
        </p:nvSpPr>
        <p:spPr>
          <a:xfrm>
            <a:off x="8915400" y="1554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 value"/>
          <p:cNvSpPr txBox="1"/>
          <p:nvPr/>
        </p:nvSpPr>
        <p:spPr>
          <a:xfrm>
            <a:off x="9098280" y="16916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109 s</a:t>
            </a:r>
          </a:p>
        </p:txBody>
      </p:sp>
      <p:sp>
        <p:nvSpPr>
          <p:cNvPr id="14" name="stat label"/>
          <p:cNvSpPr txBox="1"/>
          <p:nvPr/>
        </p:nvSpPr>
        <p:spPr>
          <a:xfrm>
            <a:off x="9098280" y="24688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end-to-end, local[8], one machine</a:t>
            </a:r>
          </a:p>
        </p:txBody>
      </p:sp>
      <p:sp>
        <p:nvSpPr>
          <p:cNvPr id="15" name="etl steps"/>
          <p:cNvSpPr/>
          <p:nvPr/>
        </p:nvSpPr>
        <p:spPr>
          <a:xfrm>
            <a:off x="548640" y="3474720"/>
            <a:ext cx="11064240" cy="256032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tl text"/>
          <p:cNvSpPr txBox="1"/>
          <p:nvPr/>
        </p:nvSpPr>
        <p:spPr>
          <a:xfrm>
            <a:off x="822960" y="36118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D2B"/>
                </a:solidFill>
                <a:latin typeface="Calibri"/>
              </a:rPr>
              <a:t>What the ETL does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Exact header check → explicit schema → malformed-row and date counts (0 / 0)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July–June agricultural year; window ≤ 2020-06-30 (before test and holdout periods)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Quality counts only: duplicate keys, min &gt; max price, zero modal price, unmatched districts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Results written by pandas; two runs produce byte-identical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D2B"/>
                </a:solidFill>
                <a:latin typeface="Cambria"/>
              </a:rPr>
              <a:t>Spark SQL and a MapReduce-style pattern</a:t>
            </a:r>
          </a:p>
        </p:txBody>
      </p:sp>
      <p:sp>
        <p:nvSpPr>
          <p:cNvPr id="3" name="sql code"/>
          <p:cNvSpPr/>
          <p:nvPr/>
        </p:nvSpPr>
        <p:spPr>
          <a:xfrm>
            <a:off x="548640" y="1463040"/>
            <a:ext cx="6035040" cy="4572000"/>
          </a:xfrm>
          <a:prstGeom prst="roundRect">
            <a:avLst>
              <a:gd name="adj" fmla="val 8000"/>
            </a:avLst>
          </a:prstGeom>
          <a:solidFill>
            <a:srgbClr val="1E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ql text"/>
          <p:cNvSpPr txBox="1"/>
          <p:nvPr/>
        </p:nvSpPr>
        <p:spPr>
          <a:xfrm>
            <a:off x="777240" y="164592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DF"/>
                </a:solidFill>
                <a:latin typeface="Courier New"/>
              </a:rPr>
              <a:t>SELECT m.crop, c.apy_district, m.apy_year,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DF"/>
                </a:solidFill>
                <a:latin typeface="Courier New"/>
              </a:rPr>
              <a:t>  COUNT(*) AS mandi_records,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DF"/>
                </a:solidFill>
                <a:latin typeface="Courier New"/>
              </a:rPr>
              <a:t>  COUNT(DISTINCT m.market) AS mandi_markets,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DF"/>
                </a:solidFill>
                <a:latin typeface="Courier New"/>
              </a:rPr>
              <a:t>  COALESCE(SUM(m.arrivals_tonnes),0) AS arrivals,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DF"/>
                </a:solidFill>
                <a:latin typeface="Courier New"/>
              </a:rPr>
              <a:t>  percentile(m.modal_price, 0.5) AS median_price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DF"/>
                </a:solidFill>
                <a:latin typeface="Courier New"/>
              </a:rPr>
              <a:t>FROM mandi m JOIN crosswalk c ON ...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DF"/>
                </a:solidFill>
                <a:latin typeface="Courier New"/>
              </a:rPr>
              <a:t>WHERE c.apy_district IS NOT NULL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DF"/>
                </a:solidFill>
                <a:latin typeface="Courier New"/>
              </a:rPr>
              <a:t>GROUP BY m.crop, c.apy_district, m.apy_year</a:t>
            </a:r>
          </a:p>
        </p:txBody>
      </p:sp>
      <p:sp>
        <p:nvSpPr>
          <p:cNvPr id="5" name="mapreduce"/>
          <p:cNvSpPr/>
          <p:nvPr/>
        </p:nvSpPr>
        <p:spPr>
          <a:xfrm>
            <a:off x="6858000" y="1463040"/>
            <a:ext cx="4754880" cy="210312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r text"/>
          <p:cNvSpPr txBox="1"/>
          <p:nvPr/>
        </p:nvSpPr>
        <p:spPr>
          <a:xfrm>
            <a:off x="7086600" y="160020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D2B"/>
                </a:solidFill>
                <a:latin typeface="Calibri"/>
              </a:rPr>
              <a:t>map → reduceByKey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B1B1B"/>
                </a:solidFill>
                <a:latin typeface="Calibri"/>
              </a:rPr>
              <a:t>((crop, state), (1, arrivals)) summed per key — equals the SQL GROUP BY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B1B1B"/>
                </a:solidFill>
                <a:latin typeface="Calibri"/>
              </a:rPr>
              <a:t>Word count over variety names (topic C7)</a:t>
            </a:r>
          </a:p>
        </p:txBody>
      </p:sp>
      <p:sp>
        <p:nvSpPr>
          <p:cNvPr id="7" name="label"/>
          <p:cNvSpPr/>
          <p:nvPr/>
        </p:nvSpPr>
        <p:spPr>
          <a:xfrm>
            <a:off x="6858000" y="3840480"/>
            <a:ext cx="4754880" cy="2194560"/>
          </a:xfrm>
          <a:prstGeom prst="roundRect">
            <a:avLst>
              <a:gd name="adj" fmla="val 8000"/>
            </a:avLst>
          </a:prstGeom>
          <a:solidFill>
            <a:srgbClr val="E8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el text"/>
          <p:cNvSpPr txBox="1"/>
          <p:nvPr/>
        </p:nvSpPr>
        <p:spPr>
          <a:xfrm>
            <a:off x="7086600" y="3977639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D2B"/>
                </a:solidFill>
                <a:latin typeface="Calibri"/>
              </a:rPr>
              <a:t>Honest label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B1B1B"/>
                </a:solidFill>
                <a:latin typeface="Calibri"/>
              </a:rPr>
              <a:t>Spark RDD MapReduce-style pattern in local mode — not Hadoop MapReduce, not a cluster.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B1B1B"/>
                </a:solidFill>
                <a:latin typeface="Calibri"/>
              </a:rPr>
              <a:t>Hadoop / HDFS: pending instructor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D2B"/>
                </a:solidFill>
                <a:latin typeface="Cambria"/>
              </a:rPr>
              <a:t>Prices: persistence is hard to beat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65836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price takeaway"/>
          <p:cNvSpPr/>
          <p:nvPr/>
        </p:nvSpPr>
        <p:spPr>
          <a:xfrm>
            <a:off x="7498079" y="1463040"/>
            <a:ext cx="4114800" cy="457200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ice text"/>
          <p:cNvSpPr txBox="1"/>
          <p:nvPr/>
        </p:nvSpPr>
        <p:spPr>
          <a:xfrm>
            <a:off x="7726679" y="164592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D2B"/>
                </a:solidFill>
                <a:latin typeface="Cambria"/>
              </a:rPr>
              <a:t>8 of 9 cells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persistence selected on validation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D2B"/>
                </a:solidFill>
                <a:latin typeface="Cambria"/>
              </a:rPr>
              <a:t>Onion h = 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-1.58% on the combined test — the model did worse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B1B1B"/>
                </a:solidFill>
                <a:latin typeface="Calibri"/>
              </a:rPr>
              <a:t>Weekly mandi prices are highly persistent (EDA: within-series correlation ≈ 0.95).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D2B"/>
                </a:solidFill>
                <a:latin typeface="Cambria"/>
              </a:rPr>
              <a:t>Arrivals: the model beats persistence in all 18 test cells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arrivals takeaway"/>
          <p:cNvSpPr/>
          <p:nvPr/>
        </p:nvSpPr>
        <p:spPr>
          <a:xfrm>
            <a:off x="8138160" y="1463040"/>
            <a:ext cx="3474720" cy="457200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rivals text"/>
          <p:cNvSpPr txBox="1"/>
          <p:nvPr/>
        </p:nvSpPr>
        <p:spPr>
          <a:xfrm>
            <a:off x="836676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4D2B"/>
                </a:solidFill>
                <a:latin typeface="Cambria"/>
              </a:rPr>
              <a:t>18 / 18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test cell-years better than persistence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D2B"/>
                </a:solidFill>
                <a:latin typeface="Cambria"/>
              </a:rPr>
              <a:t>2.3–13.5%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range of improvement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B1B1B"/>
                </a:solidFill>
                <a:latin typeface="Calibri"/>
              </a:rPr>
              <a:t>Two test years only; intervals do not cover nationwide shocks.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D2B"/>
                </a:solidFill>
                <a:latin typeface="Cambria"/>
              </a:rPr>
              <a:t>Production context: descriptive, flagged, never repaired</a:t>
            </a:r>
          </a:p>
        </p:txBody>
      </p:sp>
      <p:sp>
        <p:nvSpPr>
          <p:cNvPr id="3" name="pc 0"/>
          <p:cNvSpPr/>
          <p:nvPr/>
        </p:nvSpPr>
        <p:spPr>
          <a:xfrm>
            <a:off x="548640" y="14630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c stat"/>
          <p:cNvSpPr txBox="1"/>
          <p:nvPr/>
        </p:nvSpPr>
        <p:spPr>
          <a:xfrm>
            <a:off x="73152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31,694</a:t>
            </a:r>
          </a:p>
        </p:txBody>
      </p:sp>
      <p:sp>
        <p:nvSpPr>
          <p:cNvPr id="5" name="pc label"/>
          <p:cNvSpPr txBox="1"/>
          <p:nvPr/>
        </p:nvSpPr>
        <p:spPr>
          <a:xfrm>
            <a:off x="731520" y="2514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district-year rows (contract v1)</a:t>
            </a:r>
          </a:p>
        </p:txBody>
      </p:sp>
      <p:sp>
        <p:nvSpPr>
          <p:cNvPr id="6" name="pc 1"/>
          <p:cNvSpPr/>
          <p:nvPr/>
        </p:nvSpPr>
        <p:spPr>
          <a:xfrm>
            <a:off x="3429000" y="14630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c stat"/>
          <p:cNvSpPr txBox="1"/>
          <p:nvPr/>
        </p:nvSpPr>
        <p:spPr>
          <a:xfrm>
            <a:off x="361188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t − 2</a:t>
            </a:r>
          </a:p>
        </p:txBody>
      </p:sp>
      <p:sp>
        <p:nvSpPr>
          <p:cNvPr id="8" name="pc label"/>
          <p:cNvSpPr txBox="1"/>
          <p:nvPr/>
        </p:nvSpPr>
        <p:spPr>
          <a:xfrm>
            <a:off x="3611880" y="2514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APY year informing decision year t — an assumption</a:t>
            </a:r>
          </a:p>
        </p:txBody>
      </p:sp>
      <p:sp>
        <p:nvSpPr>
          <p:cNvPr id="9" name="pc 2"/>
          <p:cNvSpPr/>
          <p:nvPr/>
        </p:nvSpPr>
        <p:spPr>
          <a:xfrm>
            <a:off x="548640" y="37947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c stat"/>
          <p:cNvSpPr txBox="1"/>
          <p:nvPr/>
        </p:nvSpPr>
        <p:spPr>
          <a:xfrm>
            <a:off x="731520" y="3977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4</a:t>
            </a:r>
          </a:p>
        </p:txBody>
      </p:sp>
      <p:sp>
        <p:nvSpPr>
          <p:cNvPr id="11" name="pc label"/>
          <p:cNvSpPr txBox="1"/>
          <p:nvPr/>
        </p:nvSpPr>
        <p:spPr>
          <a:xfrm>
            <a:off x="731520" y="48463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comparability classes, never merged</a:t>
            </a:r>
          </a:p>
        </p:txBody>
      </p:sp>
      <p:sp>
        <p:nvSpPr>
          <p:cNvPr id="12" name="pc 3"/>
          <p:cNvSpPr/>
          <p:nvPr/>
        </p:nvSpPr>
        <p:spPr>
          <a:xfrm>
            <a:off x="3429000" y="37947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c stat"/>
          <p:cNvSpPr txBox="1"/>
          <p:nvPr/>
        </p:nvSpPr>
        <p:spPr>
          <a:xfrm>
            <a:off x="3611880" y="3977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9 / 1 / 5</a:t>
            </a:r>
          </a:p>
        </p:txBody>
      </p:sp>
      <p:sp>
        <p:nvSpPr>
          <p:cNvPr id="14" name="pc label"/>
          <p:cNvSpPr txBox="1"/>
          <p:nvPr/>
        </p:nvSpPr>
        <p:spPr>
          <a:xfrm>
            <a:off x="3611880" y="48463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PQ-1 rules active / diagnostic / blocked</a:t>
            </a:r>
          </a:p>
        </p:txBody>
      </p:sp>
      <p:sp>
        <p:nvSpPr>
          <p:cNvPr id="15" name="pc rules"/>
          <p:cNvSpPr/>
          <p:nvPr/>
        </p:nvSpPr>
        <p:spPr>
          <a:xfrm>
            <a:off x="6400800" y="1463040"/>
            <a:ext cx="5212080" cy="4434840"/>
          </a:xfrm>
          <a:prstGeom prst="roundRect">
            <a:avLst>
              <a:gd name="adj" fmla="val 8000"/>
            </a:avLst>
          </a:prstGeom>
          <a:solidFill>
            <a:srgbClr val="E8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c rules text"/>
          <p:cNvSpPr txBox="1"/>
          <p:nvPr/>
        </p:nvSpPr>
        <p:spPr>
          <a:xfrm>
            <a:off x="6629400" y="16002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D2B"/>
                </a:solidFill>
                <a:latin typeface="Calibri"/>
              </a:rPr>
              <a:t>Integrity rules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Rules designed on source years ≤ 2018-19 only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2019-20 … 2021-22 built after a hash freeze; shown as counts only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37 West Bengal / Gujarat Potato 1997-98 rows marked 'review'; no cause asserted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No forecasting model, no procurement cap, no marketable-surplus estimate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D2B"/>
                </a:solidFill>
                <a:latin typeface="Cambria"/>
              </a:rPr>
              <a:t>The functional application: a read-only dashboard</a:t>
            </a:r>
          </a:p>
        </p:txBody>
      </p:sp>
      <p:pic>
        <p:nvPicPr>
          <p:cNvPr id="3" name="dashboard screenshot" descr="app_5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304309" cy="4846320"/>
          </a:xfrm>
          <a:prstGeom prst="rect">
            <a:avLst/>
          </a:prstGeom>
        </p:spPr>
      </p:pic>
      <p:sp>
        <p:nvSpPr>
          <p:cNvPr id="4" name="tabs"/>
          <p:cNvSpPr/>
          <p:nvPr/>
        </p:nvSpPr>
        <p:spPr>
          <a:xfrm>
            <a:off x="4480560" y="1371600"/>
            <a:ext cx="7132320" cy="484632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bs text"/>
          <p:cNvSpPr txBox="1"/>
          <p:nvPr/>
        </p:nvSpPr>
        <p:spPr>
          <a:xfrm>
            <a:off x="4754880" y="150876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D2B"/>
                </a:solidFill>
                <a:latin typeface="Calibri"/>
              </a:rPr>
              <a:t>Six tabs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Overview — problem, sources, what is built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Prices — observed vs persistence vs model; test metrics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Arrivals — crop / horizon / period filters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Production — class and quality filters; reserved years as counts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Big Data — Spark workflow, SQL, parity, quality, runtime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Limitations — what the evidence cannot support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5D"/>
                </a:solidFill>
                <a:latin typeface="Calibri"/>
              </a:rPr>
              <a:t>Streamlit 1.57 · local · free; usage statistics disabled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D2B"/>
                </a:solidFill>
                <a:latin typeface="Cambria"/>
              </a:rPr>
              <a:t>Verification: tests, hashes and frozen evaluations</a:t>
            </a:r>
          </a:p>
        </p:txBody>
      </p:sp>
      <p:sp>
        <p:nvSpPr>
          <p:cNvPr id="3" name="stat tests passing (project + Spark/app env)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 value"/>
          <p:cNvSpPr txBox="1"/>
          <p:nvPr/>
        </p:nvSpPr>
        <p:spPr>
          <a:xfrm>
            <a:off x="731520" y="16916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268 + 36</a:t>
            </a:r>
          </a:p>
        </p:txBody>
      </p:sp>
      <p:sp>
        <p:nvSpPr>
          <p:cNvPr id="5" name="stat label"/>
          <p:cNvSpPr txBox="1"/>
          <p:nvPr/>
        </p:nvSpPr>
        <p:spPr>
          <a:xfrm>
            <a:off x="731520" y="24688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tests passing (project + Spark/app env)</a:t>
            </a:r>
          </a:p>
        </p:txBody>
      </p:sp>
      <p:sp>
        <p:nvSpPr>
          <p:cNvPr id="6" name="stat protected input hashes verified"/>
          <p:cNvSpPr/>
          <p:nvPr/>
        </p:nvSpPr>
        <p:spPr>
          <a:xfrm>
            <a:off x="3337560" y="1554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 value"/>
          <p:cNvSpPr txBox="1"/>
          <p:nvPr/>
        </p:nvSpPr>
        <p:spPr>
          <a:xfrm>
            <a:off x="3520440" y="16916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62</a:t>
            </a:r>
          </a:p>
        </p:txBody>
      </p:sp>
      <p:sp>
        <p:nvSpPr>
          <p:cNvPr id="8" name="stat label"/>
          <p:cNvSpPr txBox="1"/>
          <p:nvPr/>
        </p:nvSpPr>
        <p:spPr>
          <a:xfrm>
            <a:off x="3520440" y="24688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protected input hashes verified</a:t>
            </a:r>
          </a:p>
        </p:txBody>
      </p:sp>
      <p:sp>
        <p:nvSpPr>
          <p:cNvPr id="9" name="stat frozen selections verified (D-42, D-45, Phase 10)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 value"/>
          <p:cNvSpPr txBox="1"/>
          <p:nvPr/>
        </p:nvSpPr>
        <p:spPr>
          <a:xfrm>
            <a:off x="6309360" y="16916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3</a:t>
            </a:r>
          </a:p>
        </p:txBody>
      </p:sp>
      <p:sp>
        <p:nvSpPr>
          <p:cNvPr id="11" name="stat label"/>
          <p:cNvSpPr txBox="1"/>
          <p:nvPr/>
        </p:nvSpPr>
        <p:spPr>
          <a:xfrm>
            <a:off x="6309360" y="24688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frozen selections verified (D-42, D-45, Phase 10)</a:t>
            </a:r>
          </a:p>
        </p:txBody>
      </p:sp>
      <p:sp>
        <p:nvSpPr>
          <p:cNvPr id="12" name="stat each test period scored, once"/>
          <p:cNvSpPr/>
          <p:nvPr/>
        </p:nvSpPr>
        <p:spPr>
          <a:xfrm>
            <a:off x="8915400" y="1554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 value"/>
          <p:cNvSpPr txBox="1"/>
          <p:nvPr/>
        </p:nvSpPr>
        <p:spPr>
          <a:xfrm>
            <a:off x="9098280" y="16916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4D2B"/>
                </a:solidFill>
                <a:latin typeface="Cambria"/>
              </a:rPr>
              <a:t>1×</a:t>
            </a:r>
          </a:p>
        </p:txBody>
      </p:sp>
      <p:sp>
        <p:nvSpPr>
          <p:cNvPr id="14" name="stat label"/>
          <p:cNvSpPr txBox="1"/>
          <p:nvPr/>
        </p:nvSpPr>
        <p:spPr>
          <a:xfrm>
            <a:off x="9098280" y="24688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5D"/>
                </a:solidFill>
                <a:latin typeface="Calibri"/>
              </a:rPr>
              <a:t>each test period scored, once</a:t>
            </a:r>
          </a:p>
        </p:txBody>
      </p:sp>
      <p:sp>
        <p:nvSpPr>
          <p:cNvPr id="15" name="integrity"/>
          <p:cNvSpPr/>
          <p:nvPr/>
        </p:nvSpPr>
        <p:spPr>
          <a:xfrm>
            <a:off x="548640" y="3474720"/>
            <a:ext cx="11064240" cy="2560320"/>
          </a:xfrm>
          <a:prstGeom prst="roundRect">
            <a:avLst>
              <a:gd name="adj" fmla="val 8000"/>
            </a:avLst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grity text"/>
          <p:cNvSpPr txBox="1"/>
          <p:nvPr/>
        </p:nvSpPr>
        <p:spPr>
          <a:xfrm>
            <a:off x="822960" y="36118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D2B"/>
                </a:solidFill>
                <a:latin typeface="Calibri"/>
              </a:rPr>
              <a:t>How the evidence stays honest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Synthetic-fixture parity against Phase 4's own pandas code; real-data parity 0 mismatches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Dashboard tests: no reserved production value, no holdout row, no file writes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Selections fixed on validation before any test; the 2023+ holdout remains unscored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sing title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Limits and next steps</a:t>
            </a:r>
          </a:p>
        </p:txBody>
      </p:sp>
      <p:sp>
        <p:nvSpPr>
          <p:cNvPr id="3" name="limits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7BC62"/>
                </a:solidFill>
                <a:latin typeface="Calibri"/>
              </a:rPr>
              <a:t>What the evidence cannot support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Price models add little over persistence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Arrivals ≠ demand; two test years only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APY lag is an assumption; single 2023 vintage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Spark is local-mode; Hadoop pending guidance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No routing or optimiser: cost data missing</a:t>
            </a:r>
          </a:p>
        </p:txBody>
      </p:sp>
      <p:sp>
        <p:nvSpPr>
          <p:cNvPr id="4" name="next"/>
          <p:cNvSpPr txBox="1"/>
          <p:nvPr/>
        </p:nvSpPr>
        <p:spPr>
          <a:xfrm>
            <a:off x="6400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7BC62"/>
                </a:solidFill>
                <a:latin typeface="Calibri"/>
              </a:rPr>
              <a:t>Next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Route costs once distance and cost data are sourced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LP / MILP decision model on those inputs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Rolling historical backtest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Score the 2023+ holdout once, under its 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Agricultural Market Decision Support — CSE 3712</dc:title>
  <dc:subject/>
  <dc:creator/>
  <cp:keywords/>
  <dc:description>CSE 3712 Big Data Analytics project presentation</dc:description>
  <cp:lastModifiedBy/>
  <cp:revision>1</cp:revision>
  <dcterms:created xsi:type="dcterms:W3CDTF">2026-10-23T00:00:00Z</dcterms:created>
  <dcterms:modified xsi:type="dcterms:W3CDTF">2026-10-23T00:00:00Z</dcterms:modified>
  <cp:category/>
</cp:coreProperties>
</file>